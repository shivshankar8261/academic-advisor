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DATA301 example — it recurs throughout and justifies the follow-up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thesis of the project. Everything else follows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correctness is one of the eight graded metrics, so citations must be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point in the viva: an honest, verifiable limitation found by inspecting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abstention point is the subtlest engineering decision — worth explaining.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advisor that asks on every turn is as useless as one that never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cross-batch case is the strongest argument for asking follow-up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Beyond the required 20–30. Each case also names the governing clause.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directly answers the question posed in Phase 1 of the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all five live. Scenario 3 is the one that distinguishes this from a document-Q&amp;A demo — show it refusing, and explain why Table 2 is unreadable.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F3353"/>
                </a:solidFill>
              </a:defRPr>
            </a:pPr>
            <a:r>
              <a:t>AI Academic Advisor</a:t>
            </a:r>
          </a:p>
          <a:p>
            <a:pPr>
              <a:spcBef>
                <a:spcPts val="1400"/>
              </a:spcBef>
              <a:defRPr sz="1900">
                <a:solidFill>
                  <a:srgbClr val="4A6FA5"/>
                </a:solidFill>
              </a:defRPr>
            </a:pPr>
            <a:r>
              <a:t>Knowing when to answer, what to answer, when to ask, and when to say it does not have enough information</a:t>
            </a:r>
          </a:p>
          <a:p>
            <a:pPr>
              <a:spcBef>
                <a:spcPts val="1400"/>
              </a:spcBef>
              <a:defRPr sz="1500">
                <a:solidFill>
                  <a:srgbClr val="555A60"/>
                </a:solidFill>
              </a:defRPr>
            </a:pPr>
            <a:r>
              <a:t>DATA308 · Generative AI · Assignment #1 (Phases 1–7)</a:t>
            </a:r>
          </a:p>
          <a:p>
            <a:pPr>
              <a:spcBef>
                <a:spcPts val="1400"/>
              </a:spcBef>
              <a:defRPr sz="1300">
                <a:solidFill>
                  <a:srgbClr val="555A60"/>
                </a:solidFill>
              </a:defRPr>
            </a:pPr>
            <a:r>
              <a:t>&lt;&lt; your name / roll number &gt;&gt;     |     Live demo: &lt;&lt; streamlit URL &gt;&gt;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The problem</a:t>
            </a:r>
          </a:p>
          <a:p>
            <a:pPr>
              <a:defRPr sz="1400">
                <a:solidFill>
                  <a:srgbClr val="555A60"/>
                </a:solidFill>
              </a:defRPr>
            </a:pPr>
            <a:r>
              <a:t>Why document-upload-and-ask is not enough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A student asks: “Can I take Machine Learning next semester?”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There is no single correct answer. DATA301 requires DATA202+MATH301 for the 2022/2024 batches, but DATA206+MATH301 for 2025/2026-DS.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A system that answers immediately is wrong for half of all askers — and sounds equally confident to both.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Three failure modes an academic advisor must avoid: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Inventing a rule that sounds plausible (grade points, credit counts)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Advising confidently on incomplete information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Silently picking one side of a contradiction in the regulations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Goal: measure how much prompting, retrieval and structured data each contribute.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Core design decision</a:t>
            </a:r>
          </a:p>
          <a:p>
            <a:pPr>
              <a:defRPr sz="1400">
                <a:solidFill>
                  <a:srgbClr val="555A60"/>
                </a:solidFill>
              </a:defRPr>
            </a:pPr>
            <a:r>
              <a:t>What the model is, and is not, allowed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Numbers are COMPUTED. Prose is RETRIEVED. The model only explains and cites.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Prerequisites, credits, attendance, CGPA progression → deterministic Python rule engine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Regulation prose → hybrid retrieval with clause-level citations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Rule-engine output is injected as verified fact the model may not recompute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This removes the two things LLMs are worst at — multi-step arithmetic and strict rule application — from the model's job entirely.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Every rule carries its clause: attendance 75% (7.2), floor 65% (7.3), Year-2 CGPA 4.00 / Year-3 5.00 (12.1), passing grades O–D (8.11).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Data ingested</a:t>
            </a:r>
          </a:p>
          <a:p>
            <a:pPr>
              <a:defRPr sz="1400">
                <a:solidFill>
                  <a:srgbClr val="555A60"/>
                </a:solidFill>
              </a:defRPr>
            </a:pPr>
            <a:r>
              <a:t>Four provided documents, two deliberately separate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Student Handbook (Aug 2026, 92 pp) + SOP (17 Aug 2026) → 407 cited passages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Semester Spread &amp; Structures → 202 course rows, 78 unique codes, 5 batches, S1–S8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Minor Courses workbook → 7 minors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STRUCTURED layer: codes, credits, prerequisites, offerings, basket minimums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UNSTRUCTURED layer: regulation prose, chunked at top-level clause boundaries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Structure-aware chunking matters: a fixed-size chunker let a Section 12 passage inherit Clause 11.5.7's citation. Citations now carry clause ranges: “Clause 7–7.2, p.29”.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A real gap in the provided data</a:t>
            </a:r>
          </a:p>
          <a:p>
            <a:pPr>
              <a:defRPr sz="1400">
                <a:solidFill>
                  <a:srgbClr val="555A60"/>
                </a:solidFill>
              </a:defRPr>
            </a:pPr>
            <a:r>
              <a:t>Table 2 is an image, not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The letter-grade → grade-point table (Clause 8.10) is an IMAGE in the handbook PDF.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Its contents never reach the text layer, so no grade-point or CGPA arithmetic is possible.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A model that answers “A+ = 9 points” is reciting general knowledge about Indian universities — not this university's regulation.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This became verified test case M01 — the clearest hallucination probe in the set.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Also absent: course syllabi (M02), timetables and instructor allocation (M03).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Architecture</a:t>
            </a:r>
          </a:p>
          <a:p>
            <a:pPr>
              <a:defRPr sz="1400">
                <a:solidFill>
                  <a:srgbClr val="555A60"/>
                </a:solidFill>
              </a:defRPr>
            </a:pPr>
            <a:r>
              <a:t>Retrieval + rule engine + model router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CHUNK → structure-aware: one clause per block, packed within the same top-level clause (≤ ~300 tokens), contents pages dropped, contextual header embedded with each chunk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EMBED → BAAI/bge-small-en-v1.5 sentence transformer (384-d), runs locally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STORE → FAISS IndexFlatIP vector database (exact cosine), persisted to disk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RETRIEVE → BM25 + FAISS, fused by Reciprocal Rank Fusion, filtered to the student's batch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RERANK → cross-encoder ms-marco-MiniLM-L-6-v2, top-20 → top-4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ABSTAIN → gate on the cross-encoder's ABSOLUTE score; below the calibrated threshold the model is never called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A min-max fused score always rates the best hit 1.0 — it can never say “nothing here”.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GENERATE → Groq gpt-oss-120b → gpt-oss-20b → Gemini 3.6 Flash fallback, temperature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Phase 3 — Prompt engineering, one ingredient at a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V1 Basic LLM — the question, sent to the model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V2 + role, context, constraints, XML delimiters, output contract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V3 + retrieved evidence, citation duty, abstention duty, conflict duty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V4 + verified rule-engine facts, conflict warnings, follow-up protocol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Each adds exactly ONE thing, so every metric change is attributable.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Follow-ups are deliberately narrow: asked only when the missing fact would CHANGE the answer (batch, prerequisite outcome, CGPA, intended semester); at most two.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Phase 2 — 10 synthetic students</a:t>
            </a:r>
          </a:p>
          <a:p>
            <a:pPr>
              <a:defRPr sz="1400">
                <a:solidFill>
                  <a:srgbClr val="555A60"/>
                </a:solidFill>
              </a:defRPr>
            </a:pPr>
            <a:r>
              <a:t>Fully anonymised; real course 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Opaque tokens STU-A…STU-J. No names, no enrolment numbers, no contact details.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Course codes, credits and prerequisites are real — so the arithmetic is genuine.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STU-A — failed Data Structures, a prerequisite for Analysis of Algorithms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STU-C — CGPA 3.84 against a 4.00 Year-2 threshold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STU-E — 'FA' grade plus 58% attendance, below the unrelaxable 65% floor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STU-G — CGPA absent: the advisor must ask, not assume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STU-H — 2022 curriculum, where DATA301's prerequisites differ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30 real conflicts, mined from the university's own data</a:t>
            </a:r>
          </a:p>
          <a:p>
            <a:pPr>
              <a:defRPr sz="1400">
                <a:solidFill>
                  <a:srgbClr val="555A60"/>
                </a:solidFill>
              </a:defRPr>
            </a:pPr>
            <a:r>
              <a:t>Not invented — detected automatically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794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Conflict kind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Example</a:t>
                      </a:r>
                    </a:p>
                  </a:txBody>
                  <a:tcPr/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DANGLING_PREREQ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DATA301 (2025) requires DATA206 — never offered in the 2025 spread</a:t>
                      </a:r>
                    </a:p>
                  </a:txBody>
                  <a:tcPr/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ORDERING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COMP302 sits in S6 but requires COMP208, also in S6</a:t>
                      </a:r>
                    </a:p>
                  </a:txBody>
                  <a:tcPr/>
                </a:tc>
              </a:tr>
              <a:tr h="37947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CROSS_BATCH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DATA301: DATA202+MATH301 (2022/24) vs DATA206+MATH301 (2025/26)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Phase 4 — 34 verified test cases</a:t>
            </a:r>
          </a:p>
          <a:p>
            <a:pPr>
              <a:defRPr sz="1400">
                <a:solidFill>
                  <a:srgbClr val="555A60"/>
                </a:solidFill>
              </a:defRPr>
            </a:pPr>
            <a:r>
              <a:t>Every expected answer traced to a clause before being written 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4137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Cases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regulation_factual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prerequisite_eligibility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credits_progression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course_offering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missing_information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conflicting_rules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ambiguous_needs_followup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out_of_scope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How responses are scored</a:t>
            </a:r>
          </a:p>
          <a:p>
            <a:pPr>
              <a:defRPr sz="1400">
                <a:solidFill>
                  <a:srgbClr val="555A60"/>
                </a:solidFill>
              </a:defRPr>
            </a:pPr>
            <a:r>
              <a:t>Deterministic, auditable, reproducible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must_include — facts a correct answer has to contain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must_not_include — HALLUCINATION TRAPS: plausible but wrong values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M01 traps: “9”, “9.0”, “10 points”.  R01 traps: “80%”, “85%”.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These make the hallucination rate a measurement, not an impression.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Four labels: correct · partially_correct · unsupported · incorrect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Wrong ACTION scored as harshly as wrong content: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answering where the corpus is silent → unsupported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abstaining where the answer existed, or advising blindly → incorrect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Correctness = matches the verified rule. Reliability = stays grounded, admits gaps.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Results</a:t>
            </a:r>
          </a:p>
          <a:p>
            <a:pPr>
              <a:defRPr sz="1400">
                <a:solidFill>
                  <a:srgbClr val="555A60"/>
                </a:solidFill>
              </a:defRPr>
            </a:pPr>
            <a:r>
              <a:t>Run scripts/run_evaluation.py, then rebuild this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The eight-metric table is inserted here automatically once the evaluation has run.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python3 scripts/run_evaluation.py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python3 scripts/build_ppt.py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Phase 5 — what improved, and what did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Structured prompting improves FORMAT more than TRUTH — a model with no documents has nothing to be right about, and cannot cite what it was never given.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Retrieval is where correctness arrives — on questions whose answer is a specific value in a specific clause. It is also what makes abstention possible at all.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Structured student data improves eligibility decisions and conflict handling — exactly the multi-step tasks the rule engine took away from the model.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What did NOT improve: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Latency rises monotonically — reliability is bought with response time.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No variant answers M01, and none should. The gain is correctly refusing.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Prompt engineering alone plateaus.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Does asking the right question improve the recommendation?</a:t>
            </a:r>
          </a:p>
          <a:p>
            <a:pPr>
              <a:defRPr sz="1400">
                <a:solidFill>
                  <a:srgbClr val="555A60"/>
                </a:solidFill>
              </a:defRPr>
            </a:pPr>
            <a:r>
              <a:t>Yes — and here is the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“What are the prerequisites for Machine Learning?” has NO single correct answer.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2022 / 2024 batches → DATA202 + MATH301</a:t>
            </a:r>
          </a:p>
          <a:p>
            <a:pPr lvl="1">
              <a:spcAft>
                <a:spcPts val="900"/>
              </a:spcAft>
              <a:defRPr sz="1600">
                <a:solidFill>
                  <a:srgbClr val="555A60"/>
                </a:solidFill>
              </a:defRPr>
            </a:pPr>
            <a:r>
              <a:t>– 2025 / 2026-DS batches → DATA206 + MATH301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Answering immediately is wrong for roughly half of all askers.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One clarifying question — “which batch are you in?” — converts an unanswerable question into an answerable one.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The follow-up is not politeness. It is the difference between 50% and 100% correct.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Limitations</a:t>
            </a:r>
          </a:p>
          <a:p>
            <a:pPr>
              <a:defRPr sz="1400">
                <a:solidFill>
                  <a:srgbClr val="555A60"/>
                </a:solidFill>
              </a:defRPr>
            </a:pPr>
            <a:r>
              <a:t>Where the system still fails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Table 2 is an image → no grade-point or CGPA arithmetic. The system abstains.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2023/2024 semester spreads are sparse in the source workbook → genuinely unanswerable.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Minor credits are not placed in the semester spread → basket progress approximate.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30 conflicts are DETECTED, not RESOLVED — the documents do not say which governs.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Groq free tier: 200K tokens/day — fallback answers come from a different model.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Abstention thresholds are hand-calibrated — the single most sensitive setting: too strict refuses answerable questions, too loose hallucinates.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Grounding beats fluency — the largest single gain comes from retrieval.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Knowing when NOT to answer is a design feature, and it required an absolute-score abstention test; the ranked score cannot express it.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Take arithmetic away from the model — eligibility belongs in deterministic code.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Asking one good question can be worth more than a better model.</a:t>
            </a:r>
          </a:p>
          <a:p>
            <a:pPr>
              <a:spcAft>
                <a:spcPts val="900"/>
              </a:spcAft>
              <a:defRPr sz="1900">
                <a:solidFill>
                  <a:srgbClr val="1F3353"/>
                </a:solidFill>
              </a:defRPr>
            </a:pPr>
            <a:r>
              <a:t>• Real documents contain real contradictions. Surfacing them honestly beats resolving them silently.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353"/>
                </a:solidFill>
              </a:defRPr>
            </a:pPr>
            <a:r>
              <a:t>Demo</a:t>
            </a:r>
          </a:p>
          <a:p>
            <a:pPr>
              <a:defRPr sz="1400">
                <a:solidFill>
                  <a:srgbClr val="555A60"/>
                </a:solidFill>
              </a:defRPr>
            </a:pPr>
            <a:r>
              <a:t>Live prototype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279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4A6FA5"/>
                </a:solidFill>
              </a:defRPr>
            </a:pPr>
            <a:r>
              <a:t>&lt;&lt; paste your Streamlit Cloud URL here &gt;&gt;</a:t>
            </a:r>
          </a:p>
          <a:p>
            <a:pPr>
              <a:spcAft>
                <a:spcPts val="800"/>
              </a:spcAft>
              <a:defRPr sz="1700" b="0">
                <a:solidFill>
                  <a:srgbClr val="1F3353"/>
                </a:solidFill>
              </a:defRPr>
            </a:pPr>
            <a:r>
              <a:t>Scenarios to demonstrate:</a:t>
            </a:r>
          </a:p>
          <a:p>
            <a:pPr>
              <a:spcAft>
                <a:spcPts val="800"/>
              </a:spcAft>
              <a:defRPr sz="1500" b="0">
                <a:solidFill>
                  <a:srgbClr val="1F3353"/>
                </a:solidFill>
              </a:defRPr>
            </a:pPr>
            <a:r>
              <a:t>1.  Normal — “What is the minimum attendance requirement?”  → cited answer</a:t>
            </a:r>
          </a:p>
          <a:p>
            <a:pPr>
              <a:spcAft>
                <a:spcPts val="800"/>
              </a:spcAft>
              <a:defRPr sz="1500" b="0">
                <a:solidFill>
                  <a:srgbClr val="1F3353"/>
                </a:solidFill>
              </a:defRPr>
            </a:pPr>
            <a:r>
              <a:t>2.  Ambiguous — “Can I take Machine Learning next semester?”  → asks for batch</a:t>
            </a:r>
          </a:p>
          <a:p>
            <a:pPr>
              <a:spcAft>
                <a:spcPts val="800"/>
              </a:spcAft>
              <a:defRPr sz="1500" b="0">
                <a:solidFill>
                  <a:srgbClr val="1F3353"/>
                </a:solidFill>
              </a:defRPr>
            </a:pPr>
            <a:r>
              <a:t>3.  Missing — “How many grade points does an A+ carry?”  → refuses, names the gap</a:t>
            </a:r>
          </a:p>
          <a:p>
            <a:pPr>
              <a:spcAft>
                <a:spcPts val="800"/>
              </a:spcAft>
              <a:defRPr sz="1500" b="0">
                <a:solidFill>
                  <a:srgbClr val="1F3353"/>
                </a:solidFill>
              </a:defRPr>
            </a:pPr>
            <a:r>
              <a:t>4.  Conflict — DATA301 for STU-B  → flags the dangling prerequisite</a:t>
            </a:r>
          </a:p>
          <a:p>
            <a:pPr>
              <a:spcAft>
                <a:spcPts val="800"/>
              </a:spcAft>
              <a:defRPr sz="1500" b="0">
                <a:solidFill>
                  <a:srgbClr val="1F3353"/>
                </a:solidFill>
              </a:defRPr>
            </a:pPr>
            <a:r>
              <a:t>5.  Student-specific — STU-A on Analysis of Algorithms  → rule-engine verdict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